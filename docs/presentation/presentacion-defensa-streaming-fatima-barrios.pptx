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dea24b096a461c" /><Relationship Type="http://schemas.openxmlformats.org/officeDocument/2006/relationships/extended-properties" Target="/docProps/app.xml" Id="Rf6076e7276114e6b" /><Relationship Type="http://schemas.openxmlformats.org/officeDocument/2006/relationships/officeDocument" Target="/ppt/presentation.xml" Id="R536773fd366644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af272b96c946b5"/>
  </p:sldMasterIdLst>
  <p:notesMasterIdLst>
    <p:notesMasterId xmlns:r="http://schemas.openxmlformats.org/officeDocument/2006/relationships" r:id="R326faff72d194070"/>
  </p:notesMasterIdLst>
  <p:sldIdLst>
    <p:sldId xmlns:r="http://schemas.openxmlformats.org/officeDocument/2006/relationships" id="256" r:id="Rc905448f74a14b58"/>
    <p:sldId xmlns:r="http://schemas.openxmlformats.org/officeDocument/2006/relationships" id="257" r:id="Rde9db57e22244c9e"/>
    <p:sldId xmlns:r="http://schemas.openxmlformats.org/officeDocument/2006/relationships" id="258" r:id="Ra26e0ca076074749"/>
    <p:sldId xmlns:r="http://schemas.openxmlformats.org/officeDocument/2006/relationships" id="259" r:id="Re0c859a71c414e40"/>
    <p:sldId xmlns:r="http://schemas.openxmlformats.org/officeDocument/2006/relationships" id="260" r:id="R853d965383b34b7f"/>
    <p:sldId xmlns:r="http://schemas.openxmlformats.org/officeDocument/2006/relationships" id="261" r:id="Rec17e1d5787647d8"/>
    <p:sldId xmlns:r="http://schemas.openxmlformats.org/officeDocument/2006/relationships" id="262" r:id="R076c538459e04e9a"/>
    <p:sldId xmlns:r="http://schemas.openxmlformats.org/officeDocument/2006/relationships" id="263" r:id="R5db66d7d4b1e4a75"/>
    <p:sldId xmlns:r="http://schemas.openxmlformats.org/officeDocument/2006/relationships" id="264" r:id="Rd6654a37c167433a"/>
    <p:sldId xmlns:r="http://schemas.openxmlformats.org/officeDocument/2006/relationships" id="265" r:id="Rbbff3909a9c34673"/>
    <p:sldId xmlns:r="http://schemas.openxmlformats.org/officeDocument/2006/relationships" id="266" r:id="R136816a9372d47b7"/>
    <p:sldId xmlns:r="http://schemas.openxmlformats.org/officeDocument/2006/relationships" id="267" r:id="R966d37b36dc44c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dfc5263a484b2f" /><Relationship Type="http://schemas.openxmlformats.org/officeDocument/2006/relationships/slideMaster" Target="/ppt/slideMasters/slideMaster1.xml" Id="Ra2af272b96c946b5" /><Relationship Type="http://schemas.openxmlformats.org/officeDocument/2006/relationships/notesMaster" Target="/ppt/notesMasters/notesMaster1.xml" Id="R326faff72d194070" /><Relationship Type="http://schemas.openxmlformats.org/officeDocument/2006/relationships/presProps" Target="/ppt/presProps.xml" Id="R3066d6b527674597" /><Relationship Type="http://schemas.openxmlformats.org/officeDocument/2006/relationships/tableStyles" Target="/ppt/tableStyles.xml" Id="R618aef3297724d77" /><Relationship Type="http://schemas.openxmlformats.org/officeDocument/2006/relationships/slide" Target="/ppt/slides/slide1.xml" Id="Rc905448f74a14b58" /><Relationship Type="http://schemas.openxmlformats.org/officeDocument/2006/relationships/slide" Target="/ppt/slides/slide2.xml" Id="Rde9db57e22244c9e" /><Relationship Type="http://schemas.openxmlformats.org/officeDocument/2006/relationships/slide" Target="/ppt/slides/slide3.xml" Id="Ra26e0ca076074749" /><Relationship Type="http://schemas.openxmlformats.org/officeDocument/2006/relationships/slide" Target="/ppt/slides/slide4.xml" Id="Re0c859a71c414e40" /><Relationship Type="http://schemas.openxmlformats.org/officeDocument/2006/relationships/slide" Target="/ppt/slides/slide5.xml" Id="R853d965383b34b7f" /><Relationship Type="http://schemas.openxmlformats.org/officeDocument/2006/relationships/slide" Target="/ppt/slides/slide6.xml" Id="Rec17e1d5787647d8" /><Relationship Type="http://schemas.openxmlformats.org/officeDocument/2006/relationships/slide" Target="/ppt/slides/slide7.xml" Id="R076c538459e04e9a" /><Relationship Type="http://schemas.openxmlformats.org/officeDocument/2006/relationships/slide" Target="/ppt/slides/slide8.xml" Id="R5db66d7d4b1e4a75" /><Relationship Type="http://schemas.openxmlformats.org/officeDocument/2006/relationships/slide" Target="/ppt/slides/slide9.xml" Id="Rd6654a37c167433a" /><Relationship Type="http://schemas.openxmlformats.org/officeDocument/2006/relationships/slide" Target="/ppt/slides/slide10.xml" Id="Rbbff3909a9c34673" /><Relationship Type="http://schemas.openxmlformats.org/officeDocument/2006/relationships/slide" Target="/ppt/slides/slide11.xml" Id="R136816a9372d47b7" /><Relationship Type="http://schemas.openxmlformats.org/officeDocument/2006/relationships/slide" Target="/ppt/slides/slide12.xml" Id="R966d37b36dc44c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06fddfe4cb46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ns0:theme xmlns:ns0="http://schemas.openxmlformats.org/drawingml/2006/main" name="FPUNA Data Streaming">
  <ns0:themeElements>
    <ns0:clrScheme name="FPUNA Data Streaming">
      <ns0:dk1>
        <ns0:srgbClr val="000000"/>
      </ns0:dk1>
      <ns0:lt1>
        <ns0:srgbClr val="FFFFFF"/>
      </ns0:lt1>
      <ns0:dk2>
        <ns0:srgbClr val="0E2841"/>
      </ns0:dk2>
      <ns0:lt2>
        <ns0:srgbClr val="E8E8E8"/>
      </ns0:lt2>
      <ns0:accent1>
        <ns0:srgbClr val="156082"/>
      </ns0:accent1>
      <ns0:accent2>
        <ns0:srgbClr val="E97132"/>
      </ns0:accent2>
      <ns0:accent3>
        <ns0:srgbClr val="196B24"/>
      </ns0:accent3>
      <ns0:accent4>
        <ns0:srgbClr val="0F9ED5"/>
      </ns0:accent4>
      <ns0:accent5>
        <ns0:srgbClr val="A02B93"/>
      </ns0:accent5>
      <ns0:accent6>
        <ns0:srgbClr val="4EA72E"/>
      </ns0:accent6>
      <ns0:hlink>
        <ns0:srgbClr val="467886"/>
      </ns0:hlink>
      <ns0:folHlink>
        <ns0:srgbClr val="96607D"/>
      </ns0:folHlink>
    </ns0:clrScheme>
    <ns0:fontScheme name="Office">
      <ns0:majorFont>
        <ns0:latin typeface="Calibri Light"/>
        <ns0:ea typeface="Calibri Light"/>
        <ns0:cs typeface="Calibri Light"/>
      </ns0:majorFont>
      <ns0:minorFont>
        <ns0:latin typeface="Calibri"/>
        <ns0:ea typeface="Calibri"/>
        <ns0:cs typeface="Calibri"/>
      </ns0:minorFont>
    </ns0:fontScheme>
    <ns0:fmtScheme name="FPUNA Data Streaming">
      <ns0:fillStyleLst>
        <ns0:solidFill>
          <ns0:schemeClr val="phClr"/>
        </ns0:solidFill>
        <ns0:gradFill>
          <ns0:gsLst>
            <ns0:gs pos="0">
              <ns0:schemeClr val="phClr">
                <ns0:tint val="67000"/>
                <ns0:lumMod val="110000"/>
                <ns0:satMod val="105000"/>
              </ns0:schemeClr>
            </ns0:gs>
            <ns0:gs pos="50000">
              <ns0:schemeClr val="phClr">
                <ns0:tint val="73000"/>
                <ns0:lumMod val="105000"/>
                <ns0:satMod val="103000"/>
              </ns0:schemeClr>
            </ns0:gs>
            <ns0:gs pos="100000">
              <ns0:schemeClr val="phClr">
                <ns0:tint val="81000"/>
                <ns0:lumMod val="105000"/>
                <ns0:satMod val="109000"/>
              </ns0:schemeClr>
            </ns0:gs>
          </ns0:gsLst>
          <ns0:lin ang="5400000" scaled="0"/>
        </ns0:gradFill>
        <ns0:gradFill>
          <ns0:gsLst>
            <ns0:gs pos="0">
              <ns0:schemeClr val="phClr">
                <ns0:tint val="94000"/>
                <ns0:lumMod val="102000"/>
                <ns0:satMod val="103000"/>
              </ns0:schemeClr>
            </ns0:gs>
            <ns0:gs pos="50000">
              <ns0:schemeClr val="phClr">
                <ns0:shade val="100000"/>
                <ns0:lumMod val="100000"/>
                <ns0:satMod val="110000"/>
              </ns0:schemeClr>
            </ns0:gs>
            <ns0:gs pos="100000">
              <ns0:schemeClr val="phClr">
                <ns0:shade val="78000"/>
                <ns0:lumMod val="99000"/>
                <ns0:satMod val="120000"/>
              </ns0:schemeClr>
            </ns0:gs>
          </ns0:gsLst>
          <ns0:lin ang="5400000" scaled="0"/>
        </ns0:gradFill>
      </ns0:fillStyleLst>
      <ns0:lnStyleLst>
        <ns0:ln w="12700">
          <ns0:solidFill>
            <ns0:schemeClr val="phClr"/>
          </ns0:solidFill>
          <ns0:prstDash val="solid"/>
        </ns0:ln>
        <ns0:ln w="19050">
          <ns0:solidFill>
            <ns0:schemeClr val="phClr"/>
          </ns0:solidFill>
          <ns0:prstDash val="solid"/>
        </ns0:ln>
        <ns0:ln w="25400">
          <ns0:solidFill>
            <ns0:schemeClr val="phClr"/>
          </ns0:solidFill>
          <ns0:prstDash val="solid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>
              <ns0:srgbClr val="000000">
                <ns0:alpha val="16000"/>
              </ns0:srgbClr>
            </ns0:outerShdw>
          </ns0:effectLst>
        </ns0:effectStyle>
        <ns0:effectStyle>
          <ns0:effectLst>
            <ns0:outerShdw blurRad="19050" dist="9525" dir="5400000">
              <ns0:srgbClr val="000000">
                <ns0:alpha val="6000"/>
              </ns0:srgbClr>
            </ns0:outerShdw>
          </ns0:effectLst>
        </ns0:effectStyle>
        <ns0:effectStyle>
          <ns0:effectLst>
            <ns0:outerShdw blurRad="28575" dist="9525" dir="5400000">
              <ns0:srgbClr val="000000">
                <ns0:alpha val="8000"/>
              </ns0:srgbClr>
            </ns0:outerShdw>
          </ns0:effectLst>
        </ns0:effectStyle>
        <ns0:effectStyle>
          <ns0:effectLst>
            <ns0:outerShdw blurRad="57150" dist="19050" dir="5400000">
              <ns0:srgbClr val="000000">
                <ns0:alpha val="10000"/>
              </ns0:srgbClr>
            </ns0:outerShdw>
          </ns0:effectLst>
        </ns0:effectStyle>
        <ns0:effectStyle>
          <ns0:effectLst>
            <ns0:outerShdw blurRad="114300" dist="38100" dir="5400000">
              <ns0:srgbClr val="000000">
                <ns0:alpha val="12000"/>
              </ns0:srgbClr>
            </ns0:outerShdw>
          </ns0:effectLst>
        </ns0:effectStyle>
        <ns0:effectStyle>
          <ns0:effectLst>
            <ns0:outerShdw blurRad="171450" dist="57150" dir="5400000">
              <ns0:srgbClr val="000000">
                <ns0:alpha val="16000"/>
              </ns0:srgbClr>
            </ns0:outerShdw>
          </ns0:effectLst>
        </ns0:effectStyle>
        <ns0:effectStyle>
          <ns0:effectLst>
            <ns0:outerShdw blurRad="266700" dist="95250" dir="5400000">
              <ns0:srgbClr val="000000">
                <ns0:alpha val="24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>
          <ns0:gsLst>
            <ns0:gs pos="0">
              <ns0:schemeClr val="phClr">
                <ns0:tint val="93000"/>
                <ns0:shade val="98000"/>
                <ns0:lumMod val="102000"/>
                <ns0:satMod val="150000"/>
              </ns0:schemeClr>
            </ns0:gs>
            <ns0:gs pos="50000">
              <ns0:schemeClr val="phClr">
                <ns0:tint val="98000"/>
                <ns0:shade val="90000"/>
                <ns0:lumMod val="103000"/>
                <ns0:satMod val="130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</ns0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c3280e33fd416f" /><Relationship Type="http://schemas.openxmlformats.org/officeDocument/2006/relationships/notesMaster" Target="/ppt/notesMasters/notesMaster1.xml" Id="Rc2be5ab280bd4d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f5ed1ed3ce4e64" /><Relationship Type="http://schemas.openxmlformats.org/officeDocument/2006/relationships/notesMaster" Target="/ppt/notesMasters/notesMaster1.xml" Id="R925eeac1819c4c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c29580fffd4194" /><Relationship Type="http://schemas.openxmlformats.org/officeDocument/2006/relationships/notesMaster" Target="/ppt/notesMasters/notesMaster1.xml" Id="R79dea288ece84f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ee24b502684cba" /><Relationship Type="http://schemas.openxmlformats.org/officeDocument/2006/relationships/notesMaster" Target="/ppt/notesMasters/notesMaster1.xml" Id="Rd01397cf6ab449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f4d9acc1c14365" /><Relationship Type="http://schemas.openxmlformats.org/officeDocument/2006/relationships/notesMaster" Target="/ppt/notesMasters/notesMaster1.xml" Id="R83532cd07f2e47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85e11181824339" /><Relationship Type="http://schemas.openxmlformats.org/officeDocument/2006/relationships/notesMaster" Target="/ppt/notesMasters/notesMaster1.xml" Id="Rfbbb8b0310c940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1e5c3408524c3a" /><Relationship Type="http://schemas.openxmlformats.org/officeDocument/2006/relationships/notesMaster" Target="/ppt/notesMasters/notesMaster1.xml" Id="R5eeb0cb79a1c4f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4fd5cfd95f40dd" /><Relationship Type="http://schemas.openxmlformats.org/officeDocument/2006/relationships/notesMaster" Target="/ppt/notesMasters/notesMaster1.xml" Id="R7f29d970fd0e4d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2d1c5c2d4c410f" /><Relationship Type="http://schemas.openxmlformats.org/officeDocument/2006/relationships/notesMaster" Target="/ppt/notesMasters/notesMaster1.xml" Id="R24052857e4b941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65983efa364216" /><Relationship Type="http://schemas.openxmlformats.org/officeDocument/2006/relationships/notesMaster" Target="/ppt/notesMasters/notesMaster1.xml" Id="R69b57b6c24ca45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a10893e9c6430f" /><Relationship Type="http://schemas.openxmlformats.org/officeDocument/2006/relationships/notesMaster" Target="/ppt/notesMasters/notesMaster1.xml" Id="R67fca2c8994745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010f6c78c548b3" /><Relationship Type="http://schemas.openxmlformats.org/officeDocument/2006/relationships/notesMaster" Target="/ppt/notesMasters/notesMaster1.xml" Id="R4b9a1f1838b942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objetivo como una decisión de monitoreo: detectar concentración de transacciones sin confundir una alerta con una conclusión de sospecha. Indicar que la validación integra productor, Kafka, Beam, tópicos de salida y materializador.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 que la regla usa una condición OR: basta superar el conteo o el monto. La salida prioriza una revisión posterior y conserva los datos necesarios para explicar el disparo.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el flujo de izquierda a derecha. Kafka desacopla y conserva eventos; Beam valida, asigna tiempo de evento, aplica ventanas, deduplica y agrega; las salidas válidas e inválidas permanecen separadas; SQLite materializa la mayor revisión por clave.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Relacionar cada clave con su propósito: customer_id conserva localidad y orden en la entrada; idempotency_key estabiliza el efecto lógico en la salida; event_id o su hash identifica los rechazos de contrato.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grafo como una secuencia de decisiones separadas y comprobables. Destacar CombinePerKey para agregación incremental y la salida lateral para registros inválidos.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Distinguir ventana y trigger: la ventana define dónde se agrupa el evento y el trigger cuándo se emite una versión. El modo acotado de DirectRunner desactiva solo EARLY; TestStream valida la política temporal completa.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afirmar exactly-once. Explicar que la solución tolera reprocesamiento mediante una clave estable, deduplicación acotada por ventana y un upsert que conserva únicamente la mayor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TestStream controla el watermark: el duplicado no incrementa el agregado, el evento tardío aceptado genera una corrección acumulada y el evento posterior al horizonte no modifica el resultado.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Resumir los criterios observables: código de salida 0, ocho eventos consumidos, lag final 0, tres alertas, cero inválidos y 71 pruebas automatizadas.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primero la ventana con cinco transacciones y 10,5 millones, que activa ambas condiciones. Las otras dos ventanas activan solo el conteo. El orden de offsets puede diferir del orden cronológico.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Delimitar el alcance: DirectRunner, un broker y una partición de salida sirven para una validación local reproducible. La evolución natural es un runner distribuido con checkpoints, métricas y umbrales segmentados.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 el resultado: el flujo detecta concentración, publica alertas explicables y documenta sus garantías. La persistencia local ya es durable; los siguientes pasos corresponden a operación distribuida y observabilidad.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e36abaf6b940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5f24cea1d547a5" /><Relationship Type="http://schemas.openxmlformats.org/officeDocument/2006/relationships/slideLayout" Target="/ppt/slideLayouts/slideLayout1.xml" Id="R34e41c8cf77b40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e41c8cf77b40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ns0:theme xmlns:ns0="http://schemas.openxmlformats.org/drawingml/2006/main" name="FPUNA Data Streaming">
  <ns0:themeElements>
    <ns0:clrScheme name="FPUNA Data Streaming">
      <ns0:dk1>
        <ns0:srgbClr val="000000"/>
      </ns0:dk1>
      <ns0:lt1>
        <ns0:srgbClr val="FFFFFF"/>
      </ns0:lt1>
      <ns0:dk2>
        <ns0:srgbClr val="0E2841"/>
      </ns0:dk2>
      <ns0:lt2>
        <ns0:srgbClr val="E8E8E8"/>
      </ns0:lt2>
      <ns0:accent1>
        <ns0:srgbClr val="156082"/>
      </ns0:accent1>
      <ns0:accent2>
        <ns0:srgbClr val="E97132"/>
      </ns0:accent2>
      <ns0:accent3>
        <ns0:srgbClr val="196B24"/>
      </ns0:accent3>
      <ns0:accent4>
        <ns0:srgbClr val="0F9ED5"/>
      </ns0:accent4>
      <ns0:accent5>
        <ns0:srgbClr val="A02B93"/>
      </ns0:accent5>
      <ns0:accent6>
        <ns0:srgbClr val="4EA72E"/>
      </ns0:accent6>
      <ns0:hlink>
        <ns0:srgbClr val="467886"/>
      </ns0:hlink>
      <ns0:folHlink>
        <ns0:srgbClr val="96607D"/>
      </ns0:folHlink>
    </ns0:clrScheme>
    <ns0:fontScheme name="Office">
      <ns0:majorFont>
        <ns0:latin typeface="Calibri Light"/>
        <ns0:ea typeface="Calibri Light"/>
        <ns0:cs typeface="Calibri Light"/>
      </ns0:majorFont>
      <ns0:minorFont>
        <ns0:latin typeface="Calibri"/>
        <ns0:ea typeface="Calibri"/>
        <ns0:cs typeface="Calibri"/>
      </ns0:minorFont>
    </ns0:fontScheme>
    <ns0:fmtScheme name="FPUNA Data Streaming">
      <ns0:fillStyleLst>
        <ns0:solidFill>
          <ns0:schemeClr val="phClr"/>
        </ns0:solidFill>
        <ns0:gradFill>
          <ns0:gsLst>
            <ns0:gs pos="0">
              <ns0:schemeClr val="phClr">
                <ns0:tint val="67000"/>
                <ns0:lumMod val="110000"/>
                <ns0:satMod val="105000"/>
              </ns0:schemeClr>
            </ns0:gs>
            <ns0:gs pos="50000">
              <ns0:schemeClr val="phClr">
                <ns0:tint val="73000"/>
                <ns0:lumMod val="105000"/>
                <ns0:satMod val="103000"/>
              </ns0:schemeClr>
            </ns0:gs>
            <ns0:gs pos="100000">
              <ns0:schemeClr val="phClr">
                <ns0:tint val="81000"/>
                <ns0:lumMod val="105000"/>
                <ns0:satMod val="109000"/>
              </ns0:schemeClr>
            </ns0:gs>
          </ns0:gsLst>
          <ns0:lin ang="5400000" scaled="0"/>
        </ns0:gradFill>
        <ns0:gradFill>
          <ns0:gsLst>
            <ns0:gs pos="0">
              <ns0:schemeClr val="phClr">
                <ns0:tint val="94000"/>
                <ns0:lumMod val="102000"/>
                <ns0:satMod val="103000"/>
              </ns0:schemeClr>
            </ns0:gs>
            <ns0:gs pos="50000">
              <ns0:schemeClr val="phClr">
                <ns0:shade val="100000"/>
                <ns0:lumMod val="100000"/>
                <ns0:satMod val="110000"/>
              </ns0:schemeClr>
            </ns0:gs>
            <ns0:gs pos="100000">
              <ns0:schemeClr val="phClr">
                <ns0:shade val="78000"/>
                <ns0:lumMod val="99000"/>
                <ns0:satMod val="120000"/>
              </ns0:schemeClr>
            </ns0:gs>
          </ns0:gsLst>
          <ns0:lin ang="5400000" scaled="0"/>
        </ns0:gradFill>
      </ns0:fillStyleLst>
      <ns0:lnStyleLst>
        <ns0:ln w="12700">
          <ns0:solidFill>
            <ns0:schemeClr val="phClr"/>
          </ns0:solidFill>
          <ns0:prstDash val="solid"/>
        </ns0:ln>
        <ns0:ln w="19050">
          <ns0:solidFill>
            <ns0:schemeClr val="phClr"/>
          </ns0:solidFill>
          <ns0:prstDash val="solid"/>
        </ns0:ln>
        <ns0:ln w="25400">
          <ns0:solidFill>
            <ns0:schemeClr val="phClr"/>
          </ns0:solidFill>
          <ns0:prstDash val="solid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>
              <ns0:srgbClr val="000000">
                <ns0:alpha val="16000"/>
              </ns0:srgbClr>
            </ns0:outerShdw>
          </ns0:effectLst>
        </ns0:effectStyle>
        <ns0:effectStyle>
          <ns0:effectLst>
            <ns0:outerShdw blurRad="19050" dist="9525" dir="5400000">
              <ns0:srgbClr val="000000">
                <ns0:alpha val="6000"/>
              </ns0:srgbClr>
            </ns0:outerShdw>
          </ns0:effectLst>
        </ns0:effectStyle>
        <ns0:effectStyle>
          <ns0:effectLst>
            <ns0:outerShdw blurRad="28575" dist="9525" dir="5400000">
              <ns0:srgbClr val="000000">
                <ns0:alpha val="8000"/>
              </ns0:srgbClr>
            </ns0:outerShdw>
          </ns0:effectLst>
        </ns0:effectStyle>
        <ns0:effectStyle>
          <ns0:effectLst>
            <ns0:outerShdw blurRad="57150" dist="19050" dir="5400000">
              <ns0:srgbClr val="000000">
                <ns0:alpha val="10000"/>
              </ns0:srgbClr>
            </ns0:outerShdw>
          </ns0:effectLst>
        </ns0:effectStyle>
        <ns0:effectStyle>
          <ns0:effectLst>
            <ns0:outerShdw blurRad="114300" dist="38100" dir="5400000">
              <ns0:srgbClr val="000000">
                <ns0:alpha val="12000"/>
              </ns0:srgbClr>
            </ns0:outerShdw>
          </ns0:effectLst>
        </ns0:effectStyle>
        <ns0:effectStyle>
          <ns0:effectLst>
            <ns0:outerShdw blurRad="171450" dist="57150" dir="5400000">
              <ns0:srgbClr val="000000">
                <ns0:alpha val="16000"/>
              </ns0:srgbClr>
            </ns0:outerShdw>
          </ns0:effectLst>
        </ns0:effectStyle>
        <ns0:effectStyle>
          <ns0:effectLst>
            <ns0:outerShdw blurRad="266700" dist="95250" dir="5400000">
              <ns0:srgbClr val="000000">
                <ns0:alpha val="24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>
          <ns0:gsLst>
            <ns0:gs pos="0">
              <ns0:schemeClr val="phClr">
                <ns0:tint val="93000"/>
                <ns0:shade val="98000"/>
                <ns0:lumMod val="102000"/>
                <ns0:satMod val="150000"/>
              </ns0:schemeClr>
            </ns0:gs>
            <ns0:gs pos="50000">
              <ns0:schemeClr val="phClr">
                <ns0:tint val="98000"/>
                <ns0:shade val="90000"/>
                <ns0:lumMod val="103000"/>
                <ns0:satMod val="130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</ns0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feadf2f024095" /><Relationship Type="http://schemas.openxmlformats.org/officeDocument/2006/relationships/notesSlide" Target="/ppt/notesSlides/notesSlide1.xml" Id="Raadcf40e5f0944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1dce3b2204f93" /><Relationship Type="http://schemas.openxmlformats.org/officeDocument/2006/relationships/notesSlide" Target="/ppt/notesSlides/notesSlide2.xml" Id="R0c5a2379c5144e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13be108c943a3" /><Relationship Type="http://schemas.openxmlformats.org/officeDocument/2006/relationships/image" Target="/ppt/media/image.png" Id="Rcebec15cd0764c0a" /><Relationship Type="http://schemas.openxmlformats.org/officeDocument/2006/relationships/notesSlide" Target="/ppt/notesSlides/notesSlide3.xml" Id="Rb5ea0a00c1cf43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7511dee6943f3" /><Relationship Type="http://schemas.openxmlformats.org/officeDocument/2006/relationships/notesSlide" Target="/ppt/notesSlides/notesSlide4.xml" Id="R2bef4d13585e40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7628c6f1d4889" /><Relationship Type="http://schemas.openxmlformats.org/officeDocument/2006/relationships/notesSlide" Target="/ppt/notesSlides/notesSlide5.xml" Id="R36714d86b45e46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14adc1e5c4942" /><Relationship Type="http://schemas.openxmlformats.org/officeDocument/2006/relationships/notesSlide" Target="/ppt/notesSlides/notesSlide6.xml" Id="R74b927006e964b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d8945de2845d5" /><Relationship Type="http://schemas.openxmlformats.org/officeDocument/2006/relationships/notesSlide" Target="/ppt/notesSlides/notesSlide7.xml" Id="R81bae5e49ccd4e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d55de59a045a7" /><Relationship Type="http://schemas.openxmlformats.org/officeDocument/2006/relationships/notesSlide" Target="/ppt/notesSlides/notesSlide8.xml" Id="R08770b0e15414a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97f40bae44ac8" /><Relationship Type="http://schemas.openxmlformats.org/officeDocument/2006/relationships/notesSlide" Target="/ppt/notesSlides/notesSlide9.xml" Id="Recb277bc4ca24b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93bc9d77c4da6" /><Relationship Type="http://schemas.openxmlformats.org/officeDocument/2006/relationships/notesSlide" Target="/ppt/notesSlides/notesSlide10.xml" Id="R61214fb6048746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8d4b14a354d9d" /><Relationship Type="http://schemas.openxmlformats.org/officeDocument/2006/relationships/notesSlide" Target="/ppt/notesSlides/notesSlide11.xml" Id="Raeaedac5243449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742e00c614d48" /><Relationship Type="http://schemas.openxmlformats.org/officeDocument/2006/relationships/notesSlide" Target="/ppt/notesSlides/notesSlide12.xml" Id="Re291979d9eb34a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D5AAE4B-6A6D-4459-BD11-66CC65A6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9125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>
                <a:solidFill>
                  <a:srgbClr val="2E5F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E5F88"/>
                </a:solidFill>
                <a:latin typeface="Helvetica Neue"/>
                <a:ea typeface="Helvetica Neue"/>
                <a:cs typeface="Helvetica Neue"/>
              </a:rPr>
              <a:t>PROYECTO INTEGRADOR | FPUNA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F77ED44-8A14-411C-B011-12A17A36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00125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Detección de velocidad
transaccional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7648F38-914E-4CC6-94FE-9F430931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6667500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25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Kafka y Apache Beam · DirectRunner</a:t>
            </a:r>
            <a:r>
              <a:rPr sz="225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
Fátima Barrios Ortega</a:t>
            </a:r>
          </a:p>
        </p:txBody>
      </p:sp>
    </p:spTree>
    <p:extLst>
      <p:ext uri="{BB962C8B-B14F-4D97-AF65-F5344CB8AC3E}">
        <p14:creationId xmlns:p14="http://schemas.microsoft.com/office/powerpoint/2010/main" val="2566491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89D48539-D4D9-4A72-BE7A-FB7F19CE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 regla detecta concentración explicable</a:t>
            </a:r>
          </a:p>
        </p:txBody>
      </p:sp>
      <p:sp>
        <p:nvSpPr>
          <p:cNvPr id="2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30714F0F-DC32-4F8A-AC0C-FEB6D58F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grid-2-1">
            <a:extLst xmlns:a="http://schemas.openxmlformats.org/drawingml/2006/main">
              <a:ext uri="{FF2B5EF4-FFF2-40B4-BE49-F238E27FC236}">
                <a16:creationId xmlns:a16="http://schemas.microsoft.com/office/drawing/2014/main" id="{68B41FCD-2AD2-4E5D-B153-C128B9F1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Problema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Movimientos fragmentados pueden ocultar una secuencia relevante.</a:t>
            </a:r>
          </a:p>
        </p:txBody>
      </p:sp>
      <p:sp>
        <p:nvSpPr>
          <p:cNvPr id="4" name="grid-2-2">
            <a:extLst xmlns:a="http://schemas.openxmlformats.org/drawingml/2006/main">
              <a:ext uri="{FF2B5EF4-FFF2-40B4-BE49-F238E27FC236}">
                <a16:creationId xmlns:a16="http://schemas.microsoft.com/office/drawing/2014/main" id="{709C699C-4AC1-4FFB-B5DA-5ECDA3F5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Usuario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Analistas de monitoreo priorizan clientes y revisan contexto.</a:t>
            </a:r>
          </a:p>
        </p:txBody>
      </p:sp>
      <p:sp>
        <p:nvSpPr>
          <p:cNvPr id="5" name="grid-2-3">
            <a:extLst xmlns:a="http://schemas.openxmlformats.org/drawingml/2006/main">
              <a:ext uri="{FF2B5EF4-FFF2-40B4-BE49-F238E27FC236}">
                <a16:creationId xmlns:a16="http://schemas.microsoft.com/office/drawing/2014/main" id="{606B0344-4435-4636-9F9F-5A145F7C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Conteo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Alerta con 4 o más transacciones dentro de la ventana.</a:t>
            </a:r>
          </a:p>
        </p:txBody>
      </p:sp>
      <p:sp>
        <p:nvSpPr>
          <p:cNvPr id="6" name="grid-2-4">
            <a:extLst xmlns:a="http://schemas.openxmlformats.org/drawingml/2006/main">
              <a:ext uri="{FF2B5EF4-FFF2-40B4-BE49-F238E27FC236}">
                <a16:creationId xmlns:a16="http://schemas.microsoft.com/office/drawing/2014/main" id="{BDDB7ECC-19B1-4147-A8A8-C9447662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Monto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Alerta con 10.000.000 PYG o más acumulados.</a:t>
            </a:r>
          </a:p>
        </p:txBody>
      </p:sp>
    </p:spTree>
    <p:extLst>
      <p:ext uri="{BB962C8B-B14F-4D97-AF65-F5344CB8AC3E}">
        <p14:creationId xmlns:p14="http://schemas.microsoft.com/office/powerpoint/2010/main" val="1940895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237323A8-9366-4214-9C39-66C9609D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El flujo separa transporte, cómputo y salida</a:t>
            </a:r>
          </a:p>
        </p:txBody>
      </p:sp>
      <p:sp>
        <p:nvSpPr>
          <p:cNvPr id="2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7B2EAD2D-9978-4F98-9C41-6AF77A2D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architecture-lead">
            <a:extLst xmlns:a="http://schemas.openxmlformats.org/drawingml/2006/main">
              <a:ext uri="{FF2B5EF4-FFF2-40B4-BE49-F238E27FC236}">
                <a16:creationId xmlns:a16="http://schemas.microsoft.com/office/drawing/2014/main" id="{FD750648-9ADF-48C2-9AB3-289A8DEA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Una clave de cliente mantiene localidad y orden; Beam aplica la semántica temporal y escribe efectos estables.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bec15cd0764c0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93668" y="1952625"/>
            <a:ext cx="11404568" cy="4276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762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8B85477E-040C-4B25-B535-E8D9A902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Claves y contrato sostienen el orden</a:t>
            </a:r>
          </a:p>
        </p:txBody>
      </p:sp>
      <p:sp>
        <p:nvSpPr>
          <p:cNvPr id="2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AD575F43-0B56-408E-B608-326D06E2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table-lead-4">
            <a:extLst xmlns:a="http://schemas.openxmlformats.org/drawingml/2006/main">
              <a:ext uri="{FF2B5EF4-FFF2-40B4-BE49-F238E27FC236}">
                <a16:creationId xmlns:a16="http://schemas.microsoft.com/office/drawing/2014/main" id="{8669AFDE-5018-4113-9C94-CC6033DC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customer_id conserva localidad en el input; idempotency_key permite converger en la salida.</a:t>
            </a:r>
          </a:p>
        </p:txBody>
      </p:sp>
      <p:graphicFrame>
        <p:nvGraphicFramePr>
          <p:cNvPr id="10" name="evidence-table-4"/>
          <p:cNvGraphicFramePr/>
          <p:nvPr/>
        </p:nvGraphicFramePr>
        <p:xfrm>
          <a:off xmlns:a="http://schemas.openxmlformats.org/drawingml/2006/main" x="393668" y="2143125"/>
          <a:ext xmlns:a="http://schemas.openxmlformats.org/drawingml/2006/main" cx="11404568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762000"/>
                <a:gridCol w="2190750"/>
                <a:gridCol w="2476500"/>
                <a:gridCol w="3022568"/>
              </a:tblGrid>
              <a:tr h="964406">
                <a:tc>
                  <a:txBody>
                    <a:bodyPr/>
                    <a:lstStyle/>
                    <a:p>
                      <a:r>
                        <a:t>Tópico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Part.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Clave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Política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Propósito</a:t>
                      </a:r>
                    </a:p>
                  </a:txBody>
                  <a:tcPr marL="91440" marR="91440" marT="45720" marB="45720"/>
                </a:tc>
              </a:tr>
              <a:tr h="964406">
                <a:tc>
                  <a:txBody>
                    <a:bodyPr/>
                    <a:lstStyle/>
                    <a:p>
                      <a:r>
                        <a:t>bank.transactions.raw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customer_id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 días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entrada y replay</a:t>
                      </a:r>
                    </a:p>
                  </a:txBody>
                  <a:tcPr marL="91440" marR="91440" marT="45720" marB="45720"/>
                </a:tc>
              </a:tr>
              <a:tr h="964406">
                <a:tc>
                  <a:txBody>
                    <a:bodyPr/>
                    <a:lstStyle/>
                    <a:p>
                      <a:r>
                        <a:t>risk.alerts.velocity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idempotency_key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compact, delete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revisiones</a:t>
                      </a:r>
                    </a:p>
                  </a:txBody>
                  <a:tcPr marL="91440" marR="91440" marT="45720" marB="45720"/>
                </a:tc>
              </a:tr>
              <a:tr h="964406">
                <a:tc>
                  <a:txBody>
                    <a:bodyPr/>
                    <a:lstStyle/>
                    <a:p>
                      <a:r>
                        <a:t>bank.transactions.invalid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event_id/hash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 días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errores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62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15272FF7-1C6F-4D0B-BEB9-6135DB64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Beam mantiene cada decisión en un módulo</a:t>
            </a:r>
          </a:p>
        </p:txBody>
      </p:sp>
      <p:sp>
        <p:nvSpPr>
          <p:cNvPr id="2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F9063CF9-1437-4E5D-BB95-0BE154B5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" name="eight-grid-5-1">
            <a:extLst xmlns:a="http://schemas.openxmlformats.org/drawingml/2006/main">
              <a:ext uri="{FF2B5EF4-FFF2-40B4-BE49-F238E27FC236}">
                <a16:creationId xmlns:a16="http://schemas.microsoft.com/office/drawing/2014/main" id="{699AF8B7-D8B3-448A-9115-92F0A6FF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Leer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KafkaIO y grupo estable</a:t>
            </a:r>
          </a:p>
        </p:txBody>
      </p:sp>
      <p:sp>
        <p:nvSpPr>
          <p:cNvPr id="4" name="eight-grid-5-2">
            <a:extLst xmlns:a="http://schemas.openxmlformats.org/drawingml/2006/main">
              <a:ext uri="{FF2B5EF4-FFF2-40B4-BE49-F238E27FC236}">
                <a16:creationId xmlns:a16="http://schemas.microsoft.com/office/drawing/2014/main" id="{3EE023F6-E520-4FD9-8C13-226B74AF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Validar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JSON, UTF-8 y contrato</a:t>
            </a:r>
          </a:p>
        </p:txBody>
      </p:sp>
      <p:sp>
        <p:nvSpPr>
          <p:cNvPr id="5" name="eight-grid-5-3">
            <a:extLst xmlns:a="http://schemas.openxmlformats.org/drawingml/2006/main">
              <a:ext uri="{FF2B5EF4-FFF2-40B4-BE49-F238E27FC236}">
                <a16:creationId xmlns:a16="http://schemas.microsoft.com/office/drawing/2014/main" id="{94C716CC-7056-4F21-97A2-FA3BC768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Timestamp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event_time del payload</a:t>
            </a:r>
          </a:p>
        </p:txBody>
      </p:sp>
      <p:sp>
        <p:nvSpPr>
          <p:cNvPr id="6" name="eight-grid-5-4">
            <a:extLst xmlns:a="http://schemas.openxmlformats.org/drawingml/2006/main">
              <a:ext uri="{FF2B5EF4-FFF2-40B4-BE49-F238E27FC236}">
                <a16:creationId xmlns:a16="http://schemas.microsoft.com/office/drawing/2014/main" id="{B3600A44-65F7-4930-9F92-3691D32F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4. Ventana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deslizante 60 s / 10 s</a:t>
            </a:r>
          </a:p>
        </p:txBody>
      </p:sp>
      <p:sp>
        <p:nvSpPr>
          <p:cNvPr id="7" name="eight-grid-5-5">
            <a:extLst xmlns:a="http://schemas.openxmlformats.org/drawingml/2006/main">
              <a:ext uri="{FF2B5EF4-FFF2-40B4-BE49-F238E27FC236}">
                <a16:creationId xmlns:a16="http://schemas.microsoft.com/office/drawing/2014/main" id="{73918565-F23D-456D-9162-A595C4AD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5. Deduplicar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event_id por ventana</a:t>
            </a:r>
          </a:p>
        </p:txBody>
      </p:sp>
      <p:sp>
        <p:nvSpPr>
          <p:cNvPr id="8" name="eight-grid-5-6">
            <a:extLst xmlns:a="http://schemas.openxmlformats.org/drawingml/2006/main">
              <a:ext uri="{FF2B5EF4-FFF2-40B4-BE49-F238E27FC236}">
                <a16:creationId xmlns:a16="http://schemas.microsoft.com/office/drawing/2014/main" id="{6BA09524-D0F4-428D-96CB-B4EB511D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6. Agregar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CombinePerKey</a:t>
            </a:r>
          </a:p>
        </p:txBody>
      </p:sp>
      <p:sp>
        <p:nvSpPr>
          <p:cNvPr id="9" name="eight-grid-5-7">
            <a:extLst xmlns:a="http://schemas.openxmlformats.org/drawingml/2006/main">
              <a:ext uri="{FF2B5EF4-FFF2-40B4-BE49-F238E27FC236}">
                <a16:creationId xmlns:a16="http://schemas.microsoft.com/office/drawing/2014/main" id="{4E0758D5-856B-4FBD-9C42-EDFEBA31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7. Alertar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conteo o monto</a:t>
            </a:r>
          </a:p>
        </p:txBody>
      </p:sp>
      <p:sp>
        <p:nvSpPr>
          <p:cNvPr id="10" name="eight-grid-5-8">
            <a:extLst xmlns:a="http://schemas.openxmlformats.org/drawingml/2006/main">
              <a:ext uri="{FF2B5EF4-FFF2-40B4-BE49-F238E27FC236}">
                <a16:creationId xmlns:a16="http://schemas.microsoft.com/office/drawing/2014/main" id="{B6056F7A-E88F-4CD9-9349-4A59F890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8. Escribir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alertas e inválidos</a:t>
            </a:r>
          </a:p>
        </p:txBody>
      </p:sp>
    </p:spTree>
    <p:extLst>
      <p:ext uri="{BB962C8B-B14F-4D97-AF65-F5344CB8AC3E}">
        <p14:creationId xmlns:p14="http://schemas.microsoft.com/office/powerpoint/2010/main" val="8423773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B6857E35-2CB9-4973-B786-FE6E6FB2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 política temporal corrige sin estado infinito</a:t>
            </a:r>
          </a:p>
        </p:txBody>
      </p:sp>
      <p:sp>
        <p:nvSpPr>
          <p:cNvPr id="2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7F8931F6-6DAC-44FC-A853-8DAD96BB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" name="grid-6-1">
            <a:extLst xmlns:a="http://schemas.openxmlformats.org/drawingml/2006/main">
              <a:ext uri="{FF2B5EF4-FFF2-40B4-BE49-F238E27FC236}">
                <a16:creationId xmlns:a16="http://schemas.microsoft.com/office/drawing/2014/main" id="{F6939595-5567-4327-8D03-187788C2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Tiempo de evento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El timestamp viene de la transacción, no de la llegada.</a:t>
            </a:r>
          </a:p>
        </p:txBody>
      </p:sp>
      <p:sp>
        <p:nvSpPr>
          <p:cNvPr id="4" name="grid-6-2">
            <a:extLst xmlns:a="http://schemas.openxmlformats.org/drawingml/2006/main">
              <a:ext uri="{FF2B5EF4-FFF2-40B4-BE49-F238E27FC236}">
                <a16:creationId xmlns:a16="http://schemas.microsoft.com/office/drawing/2014/main" id="{607A4BE1-CBF1-40E1-AEC5-DDA73DC1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Ventana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60 segundos con avance cada 10 segundos.</a:t>
            </a:r>
          </a:p>
        </p:txBody>
      </p:sp>
      <p:sp>
        <p:nvSpPr>
          <p:cNvPr id="5" name="grid-6-3">
            <a:extLst xmlns:a="http://schemas.openxmlformats.org/drawingml/2006/main">
              <a:ext uri="{FF2B5EF4-FFF2-40B4-BE49-F238E27FC236}">
                <a16:creationId xmlns:a16="http://schemas.microsoft.com/office/drawing/2014/main" id="{3375E71C-853D-4AAF-83CC-8FA01ECD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Tardanza permitida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30 segundos para aceptar correcciones acotadas.</a:t>
            </a:r>
          </a:p>
        </p:txBody>
      </p:sp>
      <p:sp>
        <p:nvSpPr>
          <p:cNvPr id="6" name="grid-6-4">
            <a:extLst xmlns:a="http://schemas.openxmlformats.org/drawingml/2006/main">
              <a:ext uri="{FF2B5EF4-FFF2-40B4-BE49-F238E27FC236}">
                <a16:creationId xmlns:a16="http://schemas.microsoft.com/office/drawing/2014/main" id="{E21ECCC3-99DC-4904-8798-3CAAE901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Panes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EARLY, ON_TIME y LATE en modo ACCUMULATING.</a:t>
            </a:r>
          </a:p>
        </p:txBody>
      </p:sp>
    </p:spTree>
    <p:extLst>
      <p:ext uri="{BB962C8B-B14F-4D97-AF65-F5344CB8AC3E}">
        <p14:creationId xmlns:p14="http://schemas.microsoft.com/office/powerpoint/2010/main" val="17716645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73BFE221-8594-4509-8857-D33BA09E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 confiabilidad converge por clave estable</a:t>
            </a:r>
          </a:p>
        </p:txBody>
      </p:sp>
      <p:sp>
        <p:nvSpPr>
          <p:cNvPr id="2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AB8E7198-509B-4043-B16A-522D57B8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3" name="eight-grid-7-1">
            <a:extLst xmlns:a="http://schemas.openxmlformats.org/drawingml/2006/main">
              <a:ext uri="{FF2B5EF4-FFF2-40B4-BE49-F238E27FC236}">
                <a16:creationId xmlns:a16="http://schemas.microsoft.com/office/drawing/2014/main" id="{ECD40F98-8F8A-44A6-A8F7-9F5F763D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Deduplicar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event_id por cliente/ventana</a:t>
            </a:r>
          </a:p>
        </p:txBody>
      </p:sp>
      <p:sp>
        <p:nvSpPr>
          <p:cNvPr id="4" name="eight-grid-7-2">
            <a:extLst xmlns:a="http://schemas.openxmlformats.org/drawingml/2006/main">
              <a:ext uri="{FF2B5EF4-FFF2-40B4-BE49-F238E27FC236}">
                <a16:creationId xmlns:a16="http://schemas.microsoft.com/office/drawing/2014/main" id="{C44F334F-A005-45BB-BECC-AEC6D4EB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Temporizador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limpia en fin + 30 s</a:t>
            </a:r>
          </a:p>
        </p:txBody>
      </p:sp>
      <p:sp>
        <p:nvSpPr>
          <p:cNvPr id="5" name="eight-grid-7-3">
            <a:extLst xmlns:a="http://schemas.openxmlformats.org/drawingml/2006/main">
              <a:ext uri="{FF2B5EF4-FFF2-40B4-BE49-F238E27FC236}">
                <a16:creationId xmlns:a16="http://schemas.microsoft.com/office/drawing/2014/main" id="{95A537F5-EE43-4C32-8012-A4BFA01D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Clave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cliente + inicio + fin</a:t>
            </a:r>
          </a:p>
        </p:txBody>
      </p:sp>
      <p:sp>
        <p:nvSpPr>
          <p:cNvPr id="6" name="eight-grid-7-4">
            <a:extLst xmlns:a="http://schemas.openxmlformats.org/drawingml/2006/main">
              <a:ext uri="{FF2B5EF4-FFF2-40B4-BE49-F238E27FC236}">
                <a16:creationId xmlns:a16="http://schemas.microsoft.com/office/drawing/2014/main" id="{C1691CA7-4769-409F-8508-E2A0A8D3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Revisión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pane_index creciente</a:t>
            </a:r>
          </a:p>
        </p:txBody>
      </p:sp>
      <p:sp>
        <p:nvSpPr>
          <p:cNvPr id="7" name="eight-grid-7-5">
            <a:extLst xmlns:a="http://schemas.openxmlformats.org/drawingml/2006/main">
              <a:ext uri="{FF2B5EF4-FFF2-40B4-BE49-F238E27FC236}">
                <a16:creationId xmlns:a16="http://schemas.microsoft.com/office/drawing/2014/main" id="{B78D256B-5075-4120-B67C-42087387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Acumular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total vigente, no delta</a:t>
            </a:r>
          </a:p>
        </p:txBody>
      </p:sp>
      <p:sp>
        <p:nvSpPr>
          <p:cNvPr id="8" name="eight-grid-7-6">
            <a:extLst xmlns:a="http://schemas.openxmlformats.org/drawingml/2006/main">
              <a:ext uri="{FF2B5EF4-FFF2-40B4-BE49-F238E27FC236}">
                <a16:creationId xmlns:a16="http://schemas.microsoft.com/office/drawing/2014/main" id="{73BFCF1F-E332-4DFC-A710-EC2FC094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Compactar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misma clave</a:t>
            </a:r>
            <a:r>
              <a:rPr sz="150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 en Kafka</a:t>
            </a:r>
          </a:p>
        </p:txBody>
      </p:sp>
      <p:sp>
        <p:nvSpPr>
          <p:cNvPr id="9" name="eight-grid-7-7">
            <a:extLst xmlns:a="http://schemas.openxmlformats.org/drawingml/2006/main">
              <a:ext uri="{FF2B5EF4-FFF2-40B4-BE49-F238E27FC236}">
                <a16:creationId xmlns:a16="http://schemas.microsoft.com/office/drawing/2014/main" id="{15095841-2AD2-4243-9790-258528D7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Materializar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mayor revisión</a:t>
            </a:r>
          </a:p>
        </p:txBody>
      </p:sp>
      <p:sp>
        <p:nvSpPr>
          <p:cNvPr id="10" name="eight-grid-7-8">
            <a:extLst xmlns:a="http://schemas.openxmlformats.org/drawingml/2006/main">
              <a:ext uri="{FF2B5EF4-FFF2-40B4-BE49-F238E27FC236}">
                <a16:creationId xmlns:a16="http://schemas.microsoft.com/office/drawing/2014/main" id="{3DDFCDC3-E453-4E8C-B366-2D531701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Semántica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at-least-once idempotente</a:t>
            </a:r>
          </a:p>
        </p:txBody>
      </p:sp>
    </p:spTree>
    <p:extLst>
      <p:ext uri="{BB962C8B-B14F-4D97-AF65-F5344CB8AC3E}">
        <p14:creationId xmlns:p14="http://schemas.microsoft.com/office/powerpoint/2010/main" val="7835921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-8">
            <a:extLst xmlns:a="http://schemas.openxmlformats.org/drawingml/2006/main">
              <a:ext uri="{FF2B5EF4-FFF2-40B4-BE49-F238E27FC236}">
                <a16:creationId xmlns:a16="http://schemas.microsoft.com/office/drawing/2014/main" id="{FBB2974E-6CB4-4B70-9A3C-BD247BED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TestStream valida duplicados, tardíos y cierre</a:t>
            </a:r>
          </a:p>
        </p:txBody>
      </p:sp>
      <p:sp>
        <p:nvSpPr>
          <p:cNvPr id="2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731DF7A5-08E7-44E2-AE09-1D6219B1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graphicFrame>
        <p:nvGraphicFramePr>
          <p:cNvPr id="8" name="teststream-sequence"/>
          <p:cNvGraphicFramePr/>
          <p:nvPr/>
        </p:nvGraphicFramePr>
        <p:xfrm>
          <a:off xmlns:a="http://schemas.openxmlformats.org/drawingml/2006/main" x="393668" y="2079974"/>
          <a:ext xmlns:a="http://schemas.openxmlformats.org/drawingml/2006/main" cx="11404664" cy="391439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8491"/>
                <a:gridCol w="10526078"/>
              </a:tblGrid>
              <a:tr h="652399">
                <a:tc>
                  <a:txBody>
                    <a:bodyPr/>
                    <a:lstStyle/>
                    <a:p>
                      <a: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Watermark llega al inicio de la ventana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Tres eventos únicos y un duplicado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Watermark alcanza window_end: pane ON_TIME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Evento tardío aceptado: pane LATE acumulado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Watermark supera allowed lateness de 30 s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06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Evento demasiado tardío se descarta y cierra estado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62874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96BFFE5D-653E-43F7-B13F-58A07315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EEC29011-DF00-4FB3-ACC2-4FD83859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016FFF38-9B15-4459-82FB-4ED70AAB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4" name="slide-title-9">
            <a:extLst xmlns:a="http://schemas.openxmlformats.org/drawingml/2006/main">
              <a:ext uri="{FF2B5EF4-FFF2-40B4-BE49-F238E27FC236}">
                <a16:creationId xmlns:a16="http://schemas.microsoft.com/office/drawing/2014/main" id="{A967EE38-CC33-41F1-BD50-E170B8AF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 validación confirmó el recorrido completo</a:t>
            </a:r>
          </a:p>
        </p:txBody>
      </p:sp>
      <p:sp>
        <p:nvSpPr>
          <p:cNvPr id="5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C7E89816-8B11-487C-B3CC-54B90F23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6" name="stats-lead">
            <a:extLst xmlns:a="http://schemas.openxmlformats.org/drawingml/2006/main">
              <a:ext uri="{FF2B5EF4-FFF2-40B4-BE49-F238E27FC236}">
                <a16:creationId xmlns:a16="http://schemas.microsoft.com/office/drawing/2014/main" id="{62EA3A66-08D4-4900-B19E-41A77A22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DirectRunner finalizó con código 0; Kafka confirmó consumo, escritura y ausencia de inválidos.</a:t>
            </a:r>
          </a:p>
        </p:txBody>
      </p:sp>
      <p:sp>
        <p:nvSpPr>
          <p:cNvPr id="7" name="stat-value-1">
            <a:extLst xmlns:a="http://schemas.openxmlformats.org/drawingml/2006/main">
              <a:ext uri="{FF2B5EF4-FFF2-40B4-BE49-F238E27FC236}">
                <a16:creationId xmlns:a16="http://schemas.microsoft.com/office/drawing/2014/main" id="{B7BB39C4-2DFC-4596-810C-226F64E4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381375"/>
            <a:ext cx="2943225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5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71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4FA89153-DBAD-4A79-A845-0B7F41B4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5375"/>
            <a:ext cx="29432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pruebas automatizadas
Ruff sin hallazgos</a:t>
            </a:r>
          </a:p>
        </p:txBody>
      </p:sp>
      <p:sp>
        <p:nvSpPr>
          <p:cNvPr id="9" name="stat-value-2">
            <a:extLst xmlns:a="http://schemas.openxmlformats.org/drawingml/2006/main">
              <a:ext uri="{FF2B5EF4-FFF2-40B4-BE49-F238E27FC236}">
                <a16:creationId xmlns:a16="http://schemas.microsoft.com/office/drawing/2014/main" id="{22E400DF-0B24-44E2-AB27-9A890658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3381375"/>
            <a:ext cx="2943225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5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6D8970-2157-4644-B977-F94079FA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5375"/>
            <a:ext cx="29432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eventos consumidos
LAG final = 0</a:t>
            </a:r>
          </a:p>
        </p:txBody>
      </p:sp>
      <p:sp>
        <p:nvSpPr>
          <p:cNvPr id="11" name="stat-value-3">
            <a:extLst xmlns:a="http://schemas.openxmlformats.org/drawingml/2006/main">
              <a:ext uri="{FF2B5EF4-FFF2-40B4-BE49-F238E27FC236}">
                <a16:creationId xmlns:a16="http://schemas.microsoft.com/office/drawing/2014/main" id="{7158AFD3-FBE3-4F2D-98B1-28361919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3381375"/>
            <a:ext cx="2943225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5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 / 0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37E521C9-C59F-493C-AA0D-3E9D0DCF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5375"/>
            <a:ext cx="29432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alertas / inválidos
PIPELINE_EXIT_CODE=0</a:t>
            </a:r>
          </a:p>
        </p:txBody>
      </p:sp>
    </p:spTree>
    <p:extLst>
      <p:ext uri="{BB962C8B-B14F-4D97-AF65-F5344CB8AC3E}">
        <p14:creationId xmlns:p14="http://schemas.microsoft.com/office/powerpoint/2010/main" val="9190235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-10">
            <a:extLst xmlns:a="http://schemas.openxmlformats.org/drawingml/2006/main">
              <a:ext uri="{FF2B5EF4-FFF2-40B4-BE49-F238E27FC236}">
                <a16:creationId xmlns:a16="http://schemas.microsoft.com/office/drawing/2014/main" id="{F29E4C31-7F15-4128-A78D-763FB002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Tres ventanas activaron la regla esperada</a:t>
            </a:r>
          </a:p>
        </p:txBody>
      </p:sp>
      <p:sp>
        <p:nvSpPr>
          <p:cNvPr id="2" name="slide-number-10">
            <a:extLst xmlns:a="http://schemas.openxmlformats.org/drawingml/2006/main">
              <a:ext uri="{FF2B5EF4-FFF2-40B4-BE49-F238E27FC236}">
                <a16:creationId xmlns:a16="http://schemas.microsoft.com/office/drawing/2014/main" id="{CC7EC82F-6788-4044-BDB6-45FA16EC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table-lead-10">
            <a:extLst xmlns:a="http://schemas.openxmlformats.org/drawingml/2006/main">
              <a:ext uri="{FF2B5EF4-FFF2-40B4-BE49-F238E27FC236}">
                <a16:creationId xmlns:a16="http://schemas.microsoft.com/office/drawing/2014/main" id="{CEB037DC-5910-43AB-B855-6D52ABDC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La clave Kafka coincide con alert_id e idempotency_key; los tres mensajes son ON_TIME y ACCUMULATING.</a:t>
            </a:r>
          </a:p>
        </p:txBody>
      </p:sp>
      <p:graphicFrame>
        <p:nvGraphicFramePr>
          <p:cNvPr id="10" name="evidence-table-10"/>
          <p:cNvGraphicFramePr/>
          <p:nvPr/>
        </p:nvGraphicFramePr>
        <p:xfrm>
          <a:off xmlns:a="http://schemas.openxmlformats.org/drawingml/2006/main" x="393668" y="2143125"/>
          <a:ext xmlns:a="http://schemas.openxmlformats.org/drawingml/2006/main" cx="11404568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2952750"/>
                <a:gridCol w="1143000"/>
                <a:gridCol w="1905000"/>
                <a:gridCol w="4546568"/>
              </a:tblGrid>
              <a:tr h="964406">
                <a:tc>
                  <a:txBody>
                    <a:bodyPr/>
                    <a:lstStyle/>
                    <a:p>
                      <a:r>
                        <a:t>Offset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Ventana UTC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Conteo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Total PYG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Condición</a:t>
                      </a:r>
                    </a:p>
                  </a:txBody>
                  <a:tcPr marL="91440" marR="91440" marT="45720" marB="45720"/>
                </a:tc>
              </a:tr>
              <a:tr h="964406"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19:59:50-20:00:50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10.500.000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conteo + monto</a:t>
                      </a:r>
                    </a:p>
                  </a:txBody>
                  <a:tcPr marL="91440" marR="91440" marT="45720" marB="45720"/>
                </a:tc>
              </a:tr>
              <a:tr h="964406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19:59:40-20:00:40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8.000.000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conteo</a:t>
                      </a:r>
                    </a:p>
                  </a:txBody>
                  <a:tcPr marL="91440" marR="91440" marT="45720" marB="45720"/>
                </a:tc>
              </a:tr>
              <a:tr h="964406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20:00:00-20:01:00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8.000.000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conteo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7429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-11">
            <a:extLst xmlns:a="http://schemas.openxmlformats.org/drawingml/2006/main">
              <a:ext uri="{FF2B5EF4-FFF2-40B4-BE49-F238E27FC236}">
                <a16:creationId xmlns:a16="http://schemas.microsoft.com/office/drawing/2014/main" id="{38FC168F-5F18-4F5B-A5EC-72B1469C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Los límites quedan explícitos</a:t>
            </a:r>
          </a:p>
        </p:txBody>
      </p:sp>
      <p:sp>
        <p:nvSpPr>
          <p:cNvPr id="2" name="slide-number-11">
            <a:extLst xmlns:a="http://schemas.openxmlformats.org/drawingml/2006/main">
              <a:ext uri="{FF2B5EF4-FFF2-40B4-BE49-F238E27FC236}">
                <a16:creationId xmlns:a16="http://schemas.microsoft.com/office/drawing/2014/main" id="{CD2D8052-9A58-4962-8252-C19A30E4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grid-11-1">
            <a:extLst xmlns:a="http://schemas.openxmlformats.org/drawingml/2006/main">
              <a:ext uri="{FF2B5EF4-FFF2-40B4-BE49-F238E27FC236}">
                <a16:creationId xmlns:a16="http://schemas.microsoft.com/office/drawing/2014/main" id="{F9C2CBD5-9B8C-4697-8822-B8F6737A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Entorno local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DirectRunner sirve para desarrollo y prueba</a:t>
            </a:r>
            <a:r>
              <a:rPr sz="165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, no para producción distribuida.</a:t>
            </a:r>
          </a:p>
        </p:txBody>
      </p:sp>
      <p:sp>
        <p:nvSpPr>
          <p:cNvPr id="4" name="grid-11-2">
            <a:extLst xmlns:a="http://schemas.openxmlformats.org/drawingml/2006/main">
              <a:ext uri="{FF2B5EF4-FFF2-40B4-BE49-F238E27FC236}">
                <a16:creationId xmlns:a16="http://schemas.microsoft.com/office/drawing/2014/main" id="{C78C00DD-264C-47F8-823E-585E9898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Watermark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La ejecución acotada cierra ON_TIME; TestStream valida los tardíos.</a:t>
            </a:r>
          </a:p>
        </p:txBody>
      </p:sp>
      <p:sp>
        <p:nvSpPr>
          <p:cNvPr id="5" name="grid-11-3">
            <a:extLst xmlns:a="http://schemas.openxmlformats.org/drawingml/2006/main">
              <a:ext uri="{FF2B5EF4-FFF2-40B4-BE49-F238E27FC236}">
                <a16:creationId xmlns:a16="http://schemas.microsoft.com/office/drawing/2014/main" id="{FE053455-FC04-479D-A72C-AE55BEB5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Infraestructura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Un broker, RF=1 y una partición de salida.</a:t>
            </a:r>
          </a:p>
        </p:txBody>
      </p:sp>
      <p:sp>
        <p:nvSpPr>
          <p:cNvPr id="6" name="grid-11-4">
            <a:extLst xmlns:a="http://schemas.openxmlformats.org/drawingml/2006/main">
              <a:ext uri="{FF2B5EF4-FFF2-40B4-BE49-F238E27FC236}">
                <a16:creationId xmlns:a16="http://schemas.microsoft.com/office/drawing/2014/main" id="{1E4108D1-A2ED-41C2-A4CD-37C34ADA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Siguiente paso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Runner distribuido, checkpoints, métricas y umbrales por segmento.</a:t>
            </a:r>
          </a:p>
        </p:txBody>
      </p:sp>
    </p:spTree>
    <p:extLst>
      <p:ext uri="{BB962C8B-B14F-4D97-AF65-F5344CB8AC3E}">
        <p14:creationId xmlns:p14="http://schemas.microsoft.com/office/powerpoint/2010/main" val="6124769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A69BD2F5-DF3C-4B8E-8BE0-339D7D6C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24765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>
                <a:solidFill>
                  <a:srgbClr val="2E5F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E5F88"/>
                </a:solidFill>
                <a:latin typeface="Helvetica Neue"/>
                <a:ea typeface="Helvetica Neue"/>
                <a:cs typeface="Helvetica Neue"/>
              </a:rPr>
              <a:t>CONCLUSIÓN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F254AC0C-0979-499B-AD27-D114EC4D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Resultado validado.
Alcance documentado.</a:t>
            </a:r>
          </a:p>
        </p:txBody>
      </p:sp>
      <p:sp>
        <p:nvSpPr>
          <p:cNvPr id="3" name="closing-details">
            <a:extLst xmlns:a="http://schemas.openxmlformats.org/drawingml/2006/main">
              <a:ext uri="{FF2B5EF4-FFF2-40B4-BE49-F238E27FC236}">
                <a16:creationId xmlns:a16="http://schemas.microsoft.com/office/drawing/2014/main" id="{73BBCF9F-08E6-4190-AD69-DD4D4549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6191250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Kafka → Beam → Kafka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8 eventos · 3 alertas · 0 inválidos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334E68"/>
                </a:solidFill>
                <a:latin typeface="Helvetica Neue"/>
                <a:ea typeface="Helvetica Neue"/>
                <a:cs typeface="Helvetica Neue"/>
              </a:rPr>
              <a:t>Fátima Barrios Ortega</a:t>
            </a:r>
          </a:p>
        </p:txBody>
      </p:sp>
    </p:spTree>
    <p:extLst>
      <p:ext uri="{BB962C8B-B14F-4D97-AF65-F5344CB8AC3E}">
        <p14:creationId xmlns:p14="http://schemas.microsoft.com/office/powerpoint/2010/main" val="828751873"/>
      </p:ext>
    </p:extLst>
  </p:cSld>
</p:sld>
</file>

<file path=ppt/theme/theme1.xml><?xml version="1.0" encoding="utf-8"?>
<ns0:theme xmlns:ns0="http://schemas.openxmlformats.org/drawingml/2006/main" name="FPUNA Data Streaming">
  <ns0:themeElements>
    <ns0:clrScheme name="FPUNA Data Streaming">
      <ns0:dk1>
        <ns0:srgbClr val="000000"/>
      </ns0:dk1>
      <ns0:lt1>
        <ns0:srgbClr val="FFFFFF"/>
      </ns0:lt1>
      <ns0:dk2>
        <ns0:srgbClr val="0E2841"/>
      </ns0:dk2>
      <ns0:lt2>
        <ns0:srgbClr val="E8E8E8"/>
      </ns0:lt2>
      <ns0:accent1>
        <ns0:srgbClr val="156082"/>
      </ns0:accent1>
      <ns0:accent2>
        <ns0:srgbClr val="E97132"/>
      </ns0:accent2>
      <ns0:accent3>
        <ns0:srgbClr val="196B24"/>
      </ns0:accent3>
      <ns0:accent4>
        <ns0:srgbClr val="0F9ED5"/>
      </ns0:accent4>
      <ns0:accent5>
        <ns0:srgbClr val="A02B93"/>
      </ns0:accent5>
      <ns0:accent6>
        <ns0:srgbClr val="4EA72E"/>
      </ns0:accent6>
      <ns0:hlink>
        <ns0:srgbClr val="467886"/>
      </ns0:hlink>
      <ns0:folHlink>
        <ns0:srgbClr val="96607D"/>
      </ns0:folHlink>
    </ns0:clrScheme>
    <ns0:fontScheme name="Office">
      <ns0:majorFont>
        <ns0:latin typeface="Calibri Light"/>
        <ns0:ea typeface="Calibri Light"/>
        <ns0:cs typeface="Calibri Light"/>
      </ns0:majorFont>
      <ns0:minorFont>
        <ns0:latin typeface="Calibri"/>
        <ns0:ea typeface="Calibri"/>
        <ns0:cs typeface="Calibri"/>
      </ns0:minorFont>
    </ns0:fontScheme>
    <ns0:fmtScheme name="FPUNA Data Streaming">
      <ns0:fillStyleLst>
        <ns0:solidFill>
          <ns0:schemeClr val="phClr"/>
        </ns0:solidFill>
        <ns0:gradFill>
          <ns0:gsLst>
            <ns0:gs pos="0">
              <ns0:schemeClr val="phClr">
                <ns0:tint val="67000"/>
                <ns0:lumMod val="110000"/>
                <ns0:satMod val="105000"/>
              </ns0:schemeClr>
            </ns0:gs>
            <ns0:gs pos="50000">
              <ns0:schemeClr val="phClr">
                <ns0:tint val="73000"/>
                <ns0:lumMod val="105000"/>
                <ns0:satMod val="103000"/>
              </ns0:schemeClr>
            </ns0:gs>
            <ns0:gs pos="100000">
              <ns0:schemeClr val="phClr">
                <ns0:tint val="81000"/>
                <ns0:lumMod val="105000"/>
                <ns0:satMod val="109000"/>
              </ns0:schemeClr>
            </ns0:gs>
          </ns0:gsLst>
          <ns0:lin ang="5400000" scaled="0"/>
        </ns0:gradFill>
        <ns0:gradFill>
          <ns0:gsLst>
            <ns0:gs pos="0">
              <ns0:schemeClr val="phClr">
                <ns0:tint val="94000"/>
                <ns0:lumMod val="102000"/>
                <ns0:satMod val="103000"/>
              </ns0:schemeClr>
            </ns0:gs>
            <ns0:gs pos="50000">
              <ns0:schemeClr val="phClr">
                <ns0:shade val="100000"/>
                <ns0:lumMod val="100000"/>
                <ns0:satMod val="110000"/>
              </ns0:schemeClr>
            </ns0:gs>
            <ns0:gs pos="100000">
              <ns0:schemeClr val="phClr">
                <ns0:shade val="78000"/>
                <ns0:lumMod val="99000"/>
                <ns0:satMod val="120000"/>
              </ns0:schemeClr>
            </ns0:gs>
          </ns0:gsLst>
          <ns0:lin ang="5400000" scaled="0"/>
        </ns0:gradFill>
      </ns0:fillStyleLst>
      <ns0:lnStyleLst>
        <ns0:ln w="12700">
          <ns0:solidFill>
            <ns0:schemeClr val="phClr"/>
          </ns0:solidFill>
          <ns0:prstDash val="solid"/>
        </ns0:ln>
        <ns0:ln w="19050">
          <ns0:solidFill>
            <ns0:schemeClr val="phClr"/>
          </ns0:solidFill>
          <ns0:prstDash val="solid"/>
        </ns0:ln>
        <ns0:ln w="25400">
          <ns0:solidFill>
            <ns0:schemeClr val="phClr"/>
          </ns0:solidFill>
          <ns0:prstDash val="solid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>
              <ns0:srgbClr val="000000">
                <ns0:alpha val="16000"/>
              </ns0:srgbClr>
            </ns0:outerShdw>
          </ns0:effectLst>
        </ns0:effectStyle>
        <ns0:effectStyle>
          <ns0:effectLst>
            <ns0:outerShdw blurRad="19050" dist="9525" dir="5400000">
              <ns0:srgbClr val="000000">
                <ns0:alpha val="6000"/>
              </ns0:srgbClr>
            </ns0:outerShdw>
          </ns0:effectLst>
        </ns0:effectStyle>
        <ns0:effectStyle>
          <ns0:effectLst>
            <ns0:outerShdw blurRad="28575" dist="9525" dir="5400000">
              <ns0:srgbClr val="000000">
                <ns0:alpha val="8000"/>
              </ns0:srgbClr>
            </ns0:outerShdw>
          </ns0:effectLst>
        </ns0:effectStyle>
        <ns0:effectStyle>
          <ns0:effectLst>
            <ns0:outerShdw blurRad="57150" dist="19050" dir="5400000">
              <ns0:srgbClr val="000000">
                <ns0:alpha val="10000"/>
              </ns0:srgbClr>
            </ns0:outerShdw>
          </ns0:effectLst>
        </ns0:effectStyle>
        <ns0:effectStyle>
          <ns0:effectLst>
            <ns0:outerShdw blurRad="114300" dist="38100" dir="5400000">
              <ns0:srgbClr val="000000">
                <ns0:alpha val="12000"/>
              </ns0:srgbClr>
            </ns0:outerShdw>
          </ns0:effectLst>
        </ns0:effectStyle>
        <ns0:effectStyle>
          <ns0:effectLst>
            <ns0:outerShdw blurRad="171450" dist="57150" dir="5400000">
              <ns0:srgbClr val="000000">
                <ns0:alpha val="16000"/>
              </ns0:srgbClr>
            </ns0:outerShdw>
          </ns0:effectLst>
        </ns0:effectStyle>
        <ns0:effectStyle>
          <ns0:effectLst>
            <ns0:outerShdw blurRad="266700" dist="95250" dir="5400000">
              <ns0:srgbClr val="000000">
                <ns0:alpha val="24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>
          <ns0:gsLst>
            <ns0:gs pos="0">
              <ns0:schemeClr val="phClr">
                <ns0:tint val="93000"/>
                <ns0:shade val="98000"/>
                <ns0:lumMod val="102000"/>
                <ns0:satMod val="150000"/>
              </ns0:schemeClr>
            </ns0:gs>
            <ns0:gs pos="50000">
              <ns0:schemeClr val="phClr">
                <ns0:tint val="98000"/>
                <ns0:shade val="90000"/>
                <ns0:lumMod val="103000"/>
                <ns0:satMod val="130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</ns0:theme>
</file>

<file path=docProps/app.xml><?xml version="1.0" encoding="utf-8"?>
<ap:Properties xmlns:ap="http://schemas.openxmlformats.org/officeDocument/2006/extended-properties">
  <ap:Application>Open XML Presentation</ap:Application>
  <ap:PresentationFormat>Pantalla panorámica (16:9)</ap:PresentationFormat>
  <ap:Slides>12</ap:Slides>
  <ap:Notes>12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Fátima Barrios Ortega</dc:creator>
  <cp:lastModifiedBy>Fátima Barrios Ortega</cp:lastModifiedBy>
  <dc:title>Detección de velocidad transaccional con Kafka y Apache Beam</dc:title>
  <dcterms:created xsi:type="dcterms:W3CDTF">2026-08-15T22:04:53.1650000Z</dcterms:created>
  <dcterms:modified xsi:type="dcterms:W3CDTF">2026-08-15T22:04:53.1650000Z</dcterms:modified>
  <dc:subject>Presentación de defensa del proyecto integrador de Data Streaming</dc:subject>
  <dc:description>Arquitectura, tiempo de evento, deduplicación, idempotencia y validación reproducible.</dc:description>
  <cp:keywords>Apache Kafka; Apache Beam; Data Streaming; Event Time</cp:keywords>
</cp:coreProperties>
</file>